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8787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Представление: кто я, в каком контексте делал проект. Дивидендный календарь — pet-проект для личных инвестиций.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Боль: жёсткий дедлайн закрытия реестра. Решение: единый календарь и сторожки с автоматическим обновлением.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Ключевая идея: разделение ролей. Шесть субагентов покрывают проектирование, ревью и реализацию, что снижает расхождения контрактов.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Структура повторяет процесс: design — спецификации, backend и frontend — реализация. Данные собираются отдельными CLI-скриптами.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Слева календарь за ноябрь 2026: шесть собраний, у SAGOP и HNFG зелёные индикаторы «28/29 дней до события». Справа — сторожки с теми же полями. Цвет чипа определяется числом дней: &gt;7 — зелёный, 1–7 — жёлтый, 0 — красный.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30191-EEDA-941F-494E-61F844283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B7A739-3FE8-620B-5BEA-655290785E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B6A7DB-25B0-A011-729E-CC525F54DF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Слева календарь за ноябрь 2026: шесть собраний, у SAGOP и HNFG зелёные индикаторы «28/29 дней до события». Справа — сторожки с теми же полями. Цвет чипа определяется числом дней: &gt;7 — зелёный, 1–7 — жёлтый, 0 — красный.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4E731A-EA84-0AF8-9DA4-F75E4C21D6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7462737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Три направления: технический долг из README, многопользовательский режим с авторизацией и парсинг новостей с ссылками в карточках.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82296"/>
          </a:xfrm>
          <a:prstGeom prst="roundRect">
            <a:avLst>
              <a:gd name="adj" fmla="val 0"/>
            </a:avLst>
          </a:prstGeom>
          <a:solidFill>
            <a:srgbClr val="9D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9DB8FF"/>
                </a:solidFill>
                <a:latin typeface="Segoe UI"/>
              </a:rPr>
              <a:t>ВЫПУСКНАЯ РАБОТА · КУРС ПО ВАЙБ-КОДИНГУ НА CLAUDE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E6E1E8"/>
                </a:solidFill>
                <a:latin typeface="Segoe UI"/>
              </a:rPr>
              <a:t>Дивидендный календарь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>
                <a:solidFill>
                  <a:srgbClr val="9DB8FF"/>
                </a:solidFill>
                <a:latin typeface="Segoe UI"/>
              </a:rPr>
              <a:t>Автообновляемый сервис отслеживания дивидендных событий</a:t>
            </a:r>
          </a:p>
          <a:p>
            <a:pPr algn="l">
              <a:lnSpc>
                <a:spcPct val="120000"/>
              </a:lnSpc>
            </a:pPr>
            <a:r>
              <a:rPr sz="1900" b="0">
                <a:solidFill>
                  <a:srgbClr val="9DB8FF"/>
                </a:solidFill>
                <a:latin typeface="Segoe UI"/>
              </a:rPr>
              <a:t>российских эмитентов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429000"/>
            <a:ext cx="10698480" cy="9144"/>
          </a:xfrm>
          <a:prstGeom prst="roundRect">
            <a:avLst>
              <a:gd name="adj" fmla="val 0"/>
            </a:avLst>
          </a:prstGeom>
          <a:solidFill>
            <a:srgbClr val="3A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5669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8E8B96"/>
                </a:solidFill>
                <a:latin typeface="Segoe UI"/>
              </a:rPr>
              <a:t>Кто 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77639"/>
            <a:ext cx="5852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6E1E8"/>
                </a:solidFill>
                <a:latin typeface="Segoe UI"/>
              </a:rPr>
              <a:t>Сергей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34840"/>
            <a:ext cx="6035040" cy="1088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dirty="0" err="1">
                <a:solidFill>
                  <a:srgbClr val="C9C5CF"/>
                </a:solidFill>
                <a:latin typeface="Segoe UI"/>
              </a:rPr>
              <a:t>Профессиональный</a:t>
            </a:r>
            <a:r>
              <a:rPr sz="1300" b="0" dirty="0">
                <a:solidFill>
                  <a:srgbClr val="C9C5CF"/>
                </a:solidFill>
                <a:latin typeface="Segoe UI"/>
              </a:rPr>
              <a:t> Go-</a:t>
            </a:r>
            <a:r>
              <a:rPr sz="1300" b="0" dirty="0" err="1">
                <a:solidFill>
                  <a:srgbClr val="C9C5CF"/>
                </a:solidFill>
                <a:latin typeface="Segoe UI"/>
              </a:rPr>
              <a:t>разработчик</a:t>
            </a:r>
            <a:r>
              <a:rPr sz="1300" b="0" dirty="0">
                <a:solidFill>
                  <a:srgbClr val="C9C5CF"/>
                </a:solidFill>
                <a:latin typeface="Segoe UI"/>
              </a:rPr>
              <a:t>. Pet-</a:t>
            </a:r>
            <a:r>
              <a:rPr sz="1300" b="0" dirty="0" err="1">
                <a:solidFill>
                  <a:srgbClr val="C9C5CF"/>
                </a:solidFill>
                <a:latin typeface="Segoe UI"/>
              </a:rPr>
              <a:t>проекты</a:t>
            </a:r>
            <a:r>
              <a:rPr sz="1300" b="0" dirty="0">
                <a:solidFill>
                  <a:srgbClr val="C9C5CF"/>
                </a:solidFill>
                <a:latin typeface="Segoe UI"/>
              </a:rPr>
              <a:t> — </a:t>
            </a:r>
            <a:r>
              <a:rPr sz="1300" b="0" dirty="0" err="1">
                <a:solidFill>
                  <a:srgbClr val="C9C5CF"/>
                </a:solidFill>
                <a:latin typeface="Segoe UI"/>
              </a:rPr>
              <a:t>на</a:t>
            </a:r>
            <a:r>
              <a:rPr sz="1300" b="0" dirty="0">
                <a:solidFill>
                  <a:srgbClr val="C9C5CF"/>
                </a:solidFill>
                <a:latin typeface="Segoe UI"/>
              </a:rPr>
              <a:t> Python.</a:t>
            </a:r>
          </a:p>
          <a:p>
            <a:pPr algn="l">
              <a:lnSpc>
                <a:spcPct val="140000"/>
              </a:lnSpc>
            </a:pPr>
            <a:r>
              <a:rPr sz="1300" b="0" dirty="0" err="1">
                <a:solidFill>
                  <a:srgbClr val="C9C5CF"/>
                </a:solidFill>
                <a:latin typeface="Segoe UI"/>
              </a:rPr>
              <a:t>Автор</a:t>
            </a:r>
            <a:r>
              <a:rPr sz="1300" b="0" dirty="0">
                <a:solidFill>
                  <a:srgbClr val="C9C5CF"/>
                </a:solidFill>
                <a:latin typeface="Segoe UI"/>
              </a:rPr>
              <a:t> </a:t>
            </a:r>
            <a:r>
              <a:rPr sz="1300" b="0" dirty="0" err="1">
                <a:solidFill>
                  <a:srgbClr val="C9C5CF"/>
                </a:solidFill>
                <a:latin typeface="Segoe UI"/>
              </a:rPr>
              <a:t>выпускной</a:t>
            </a:r>
            <a:r>
              <a:rPr sz="1300" b="0" dirty="0">
                <a:solidFill>
                  <a:srgbClr val="C9C5CF"/>
                </a:solidFill>
                <a:latin typeface="Segoe UI"/>
              </a:rPr>
              <a:t> </a:t>
            </a:r>
            <a:r>
              <a:rPr sz="1300" b="0" dirty="0" err="1">
                <a:solidFill>
                  <a:srgbClr val="C9C5CF"/>
                </a:solidFill>
                <a:latin typeface="Segoe UI"/>
              </a:rPr>
              <a:t>работы</a:t>
            </a:r>
            <a:r>
              <a:rPr sz="1300" b="0" dirty="0">
                <a:solidFill>
                  <a:srgbClr val="C9C5CF"/>
                </a:solidFill>
                <a:latin typeface="Segoe UI"/>
              </a:rPr>
              <a:t> </a:t>
            </a:r>
            <a:r>
              <a:rPr sz="1300" b="0" dirty="0" err="1">
                <a:solidFill>
                  <a:srgbClr val="C9C5CF"/>
                </a:solidFill>
                <a:latin typeface="Segoe UI"/>
              </a:rPr>
              <a:t>курса</a:t>
            </a:r>
            <a:r>
              <a:rPr sz="1300" b="0" dirty="0">
                <a:solidFill>
                  <a:srgbClr val="C9C5CF"/>
                </a:solidFill>
                <a:latin typeface="Segoe UI"/>
              </a:rPr>
              <a:t> </a:t>
            </a:r>
            <a:r>
              <a:rPr sz="1300" b="0" dirty="0" err="1">
                <a:solidFill>
                  <a:srgbClr val="C9C5CF"/>
                </a:solidFill>
                <a:latin typeface="Segoe UI"/>
              </a:rPr>
              <a:t>по</a:t>
            </a:r>
            <a:r>
              <a:rPr sz="1300" b="0" dirty="0">
                <a:solidFill>
                  <a:srgbClr val="C9C5CF"/>
                </a:solidFill>
                <a:latin typeface="Segoe UI"/>
              </a:rPr>
              <a:t> </a:t>
            </a:r>
            <a:r>
              <a:rPr sz="1300" b="0" dirty="0" err="1">
                <a:solidFill>
                  <a:srgbClr val="C9C5CF"/>
                </a:solidFill>
                <a:latin typeface="Segoe UI"/>
              </a:rPr>
              <a:t>вайб-кодингу</a:t>
            </a:r>
            <a:r>
              <a:rPr sz="1300" b="0" dirty="0">
                <a:solidFill>
                  <a:srgbClr val="C9C5CF"/>
                </a:solidFill>
                <a:latin typeface="Segoe UI"/>
              </a:rPr>
              <a:t> </a:t>
            </a:r>
            <a:r>
              <a:rPr sz="1300" b="0" dirty="0" err="1">
                <a:solidFill>
                  <a:srgbClr val="C9C5CF"/>
                </a:solidFill>
                <a:latin typeface="Segoe UI"/>
              </a:rPr>
              <a:t>на</a:t>
            </a:r>
            <a:r>
              <a:rPr sz="1300" b="0" dirty="0">
                <a:solidFill>
                  <a:srgbClr val="C9C5CF"/>
                </a:solidFill>
                <a:latin typeface="Segoe UI"/>
              </a:rPr>
              <a:t> Claude Code.</a:t>
            </a:r>
            <a:endParaRPr lang="ru-RU" sz="1300" b="0" dirty="0">
              <a:solidFill>
                <a:srgbClr val="C9C5CF"/>
              </a:solidFill>
              <a:latin typeface="Segoe UI"/>
            </a:endParaRPr>
          </a:p>
          <a:p>
            <a:pPr algn="l">
              <a:lnSpc>
                <a:spcPct val="140000"/>
              </a:lnSpc>
            </a:pPr>
            <a:endParaRPr lang="ru-RU" sz="1300" b="0" dirty="0">
              <a:solidFill>
                <a:srgbClr val="C9C5CF"/>
              </a:solidFill>
              <a:latin typeface="Segoe UI"/>
            </a:endParaRPr>
          </a:p>
          <a:p>
            <a:pPr>
              <a:lnSpc>
                <a:spcPct val="140000"/>
              </a:lnSpc>
            </a:pPr>
            <a:r>
              <a:rPr lang="ru-RU" sz="1300" dirty="0">
                <a:solidFill>
                  <a:srgbClr val="C9C5CF"/>
                </a:solidFill>
                <a:latin typeface="Segoe UI"/>
              </a:rPr>
              <a:t>Интересы: частные инвестиции на российском фондовом рынке</a:t>
            </a:r>
            <a:endParaRPr sz="1300" b="0" dirty="0">
              <a:solidFill>
                <a:srgbClr val="C9C5CF"/>
              </a:solidFill>
              <a:latin typeface="Segoe U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040880" y="3657600"/>
            <a:ext cx="4389120" cy="1600200"/>
          </a:xfrm>
          <a:prstGeom prst="roundRect">
            <a:avLst>
              <a:gd name="adj" fmla="val 8000"/>
            </a:avLst>
          </a:prstGeom>
          <a:solidFill>
            <a:srgbClr val="1D1D20"/>
          </a:solidFill>
          <a:ln w="12700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69480" y="384048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8E8B96"/>
                </a:solidFill>
                <a:latin typeface="Segoe UI"/>
              </a:rPr>
              <a:t>РОЛЬ В ПРОЕКТЕ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4160520"/>
            <a:ext cx="39319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E6E1E8"/>
                </a:solidFill>
                <a:latin typeface="Segoe UI"/>
              </a:rPr>
              <a:t>Постановка задачи, архитектурные решения,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E6E1E8"/>
                </a:solidFill>
                <a:latin typeface="Segoe UI"/>
              </a:rPr>
              <a:t>приёмка спецификаций и кода, работа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E6E1E8"/>
                </a:solidFill>
                <a:latin typeface="Segoe UI"/>
              </a:rPr>
              <a:t>с субагентами Claude Code.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80644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232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59536" y="5916168"/>
            <a:ext cx="91440" cy="91440"/>
          </a:xfrm>
          <a:prstGeom prst="ellipse">
            <a:avLst/>
          </a:prstGeom>
          <a:solidFill>
            <a:srgbClr val="7FD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24128" y="5856731"/>
            <a:ext cx="10698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6E1E8"/>
                </a:solidFill>
                <a:latin typeface="Segoe UI"/>
              </a:rPr>
              <a:t>MVP готов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0" y="5806440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232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2414016" y="5916168"/>
            <a:ext cx="91440" cy="91440"/>
          </a:xfrm>
          <a:prstGeom prst="ellipse">
            <a:avLst/>
          </a:prstGeom>
          <a:solidFill>
            <a:srgbClr val="9D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578608" y="5856731"/>
            <a:ext cx="13441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6E1E8"/>
                </a:solidFill>
                <a:latin typeface="Segoe UI"/>
              </a:rPr>
              <a:t>177 тестов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0" y="5806440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232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242816" y="5916168"/>
            <a:ext cx="91440" cy="91440"/>
          </a:xfrm>
          <a:prstGeom prst="ellipse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07408" y="5856731"/>
            <a:ext cx="1435607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6E1E8"/>
                </a:solidFill>
                <a:latin typeface="Segoe UI"/>
              </a:rPr>
              <a:t>6 субагентов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4652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E8B96"/>
                </a:solidFill>
                <a:latin typeface="Segoe UI"/>
              </a:rPr>
              <a:t>Дивидендный календарь · MVP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E8B96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6E1E8"/>
                </a:solidFill>
                <a:latin typeface="Segoe UI"/>
              </a:rPr>
              <a:t>Боль и решение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E8B96"/>
                </a:solidFill>
                <a:latin typeface="Segoe UI"/>
              </a:rPr>
              <a:t>Почему календарь, а не ещё одна таблица с дивидендами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5349240" cy="3246120"/>
          </a:xfrm>
          <a:prstGeom prst="roundRect">
            <a:avLst>
              <a:gd name="adj" fmla="val 5000"/>
            </a:avLst>
          </a:prstGeom>
          <a:solidFill>
            <a:srgbClr val="1D1D20"/>
          </a:solidFill>
          <a:ln w="12700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73152" cy="3246120"/>
          </a:xfrm>
          <a:prstGeom prst="roundRect">
            <a:avLst>
              <a:gd name="adj" fmla="val 0"/>
            </a:avLst>
          </a:prstGeom>
          <a:solidFill>
            <a:srgbClr val="FF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8A80"/>
                </a:solidFill>
                <a:latin typeface="Segoe UI"/>
              </a:rPr>
              <a:t>БОЛЬ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6E1E8"/>
                </a:solidFill>
                <a:latin typeface="Segoe UI"/>
              </a:rPr>
              <a:t>Дата отсечки — жёсткий дедлайн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484632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C9C5CF"/>
                </a:solidFill>
                <a:latin typeface="Segoe UI"/>
              </a:rPr>
              <a:t>• Пропустил закрытие реестра — не получил дивиденды.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C9C5CF"/>
                </a:solidFill>
                <a:latin typeface="Segoe UI"/>
              </a:rPr>
              <a:t>• Даты, суммы и доходность разбросаны по disclosure.ru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C9C5CF"/>
                </a:solidFill>
                <a:latin typeface="Segoe UI"/>
              </a:rPr>
              <a:t>  и MOEX, сводятся вручную.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C9C5CF"/>
                </a:solidFill>
                <a:latin typeface="Segoe UI"/>
              </a:rPr>
              <a:t>• Календари брокеров не показывают собрания и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C9C5CF"/>
                </a:solidFill>
                <a:latin typeface="Segoe UI"/>
              </a:rPr>
              <a:t>  условия выплат до объявления отсечки.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08760"/>
            <a:ext cx="5349240" cy="3246120"/>
          </a:xfrm>
          <a:prstGeom prst="roundRect">
            <a:avLst>
              <a:gd name="adj" fmla="val 5000"/>
            </a:avLst>
          </a:prstGeom>
          <a:solidFill>
            <a:srgbClr val="1D1D20"/>
          </a:solidFill>
          <a:ln w="12700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263640" y="1508760"/>
            <a:ext cx="73152" cy="3246120"/>
          </a:xfrm>
          <a:prstGeom prst="roundRect">
            <a:avLst>
              <a:gd name="adj" fmla="val 0"/>
            </a:avLst>
          </a:prstGeom>
          <a:solidFill>
            <a:srgbClr val="7FD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169164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FD9A6"/>
                </a:solidFill>
                <a:latin typeface="Segoe UI"/>
              </a:rPr>
              <a:t>РЕШЕНИЕ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01168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6E1E8"/>
                </a:solidFill>
                <a:latin typeface="Segoe UI"/>
              </a:rPr>
              <a:t>Один экран — все события и сроки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514600"/>
            <a:ext cx="484632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C9C5CF"/>
                </a:solidFill>
                <a:latin typeface="Segoe UI"/>
              </a:rPr>
              <a:t>• Календарь собраний акционеров с вопросом о дивидендах.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C9C5CF"/>
                </a:solidFill>
                <a:latin typeface="Segoe UI"/>
              </a:rPr>
              <a:t>• «Сторожки» на выбранные тикеры: статус, дни до события,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C9C5CF"/>
                </a:solidFill>
                <a:latin typeface="Segoe UI"/>
              </a:rPr>
              <a:t>  трёхцветная шкала срочности.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C9C5CF"/>
                </a:solidFill>
                <a:latin typeface="Segoe UI"/>
              </a:rPr>
              <a:t>• Автообновление из официальных источников: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C9C5CF"/>
                </a:solidFill>
                <a:latin typeface="Segoe UI"/>
              </a:rPr>
              <a:t>  MOEX ISS и disclosure.ru.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074920"/>
            <a:ext cx="2606040" cy="960120"/>
          </a:xfrm>
          <a:prstGeom prst="roundRect">
            <a:avLst>
              <a:gd name="adj" fmla="val 8000"/>
            </a:avLst>
          </a:prstGeom>
          <a:solidFill>
            <a:srgbClr val="232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521208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9DB8FF"/>
                </a:solidFill>
                <a:latin typeface="Segoe UI"/>
              </a:rPr>
              <a:t>510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641848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E8B96"/>
                </a:solidFill>
                <a:latin typeface="Segoe UI"/>
              </a:rPr>
              <a:t>тикеров Мосбиржи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29000" y="5074920"/>
            <a:ext cx="2606040" cy="960120"/>
          </a:xfrm>
          <a:prstGeom prst="roundRect">
            <a:avLst>
              <a:gd name="adj" fmla="val 8000"/>
            </a:avLst>
          </a:prstGeom>
          <a:solidFill>
            <a:srgbClr val="232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0" y="521208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9DB8FF"/>
                </a:solidFill>
                <a:latin typeface="Segoe UI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5641848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E8B96"/>
                </a:solidFill>
                <a:latin typeface="Segoe UI"/>
              </a:rPr>
              <a:t>собраний в календаре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5074920"/>
            <a:ext cx="2606040" cy="960120"/>
          </a:xfrm>
          <a:prstGeom prst="roundRect">
            <a:avLst>
              <a:gd name="adj" fmla="val 8000"/>
            </a:avLst>
          </a:prstGeom>
          <a:solidFill>
            <a:srgbClr val="232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20" y="521208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9DB8FF"/>
                </a:solidFill>
                <a:latin typeface="Segoe U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5641848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E8B96"/>
                </a:solidFill>
                <a:latin typeface="Segoe UI"/>
              </a:rPr>
              <a:t>сторожка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6839" y="5074920"/>
            <a:ext cx="2606040" cy="960120"/>
          </a:xfrm>
          <a:prstGeom prst="roundRect">
            <a:avLst>
              <a:gd name="adj" fmla="val 8000"/>
            </a:avLst>
          </a:prstGeom>
          <a:solidFill>
            <a:srgbClr val="232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35439" y="521208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9DB8FF"/>
                </a:solidFill>
                <a:latin typeface="Segoe UI"/>
              </a:rPr>
              <a:t>177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39" y="5641848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E8B96"/>
                </a:solidFill>
                <a:latin typeface="Segoe UI"/>
              </a:rPr>
              <a:t>backend-тестов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4652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E8B96"/>
                </a:solidFill>
                <a:latin typeface="Segoe UI"/>
              </a:rPr>
              <a:t>Дивидендный календарь · MVP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E8B96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6E1E8"/>
                </a:solidFill>
                <a:latin typeface="Segoe UI"/>
              </a:rPr>
              <a:t>Этапы реализации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E8B96"/>
                </a:solidFill>
                <a:latin typeface="Segoe UI"/>
              </a:rPr>
              <a:t>От спецификаций к работающему MVP</a:t>
            </a:r>
          </a:p>
        </p:txBody>
      </p:sp>
      <p:sp>
        <p:nvSpPr>
          <p:cNvPr id="4" name="Oval 3"/>
          <p:cNvSpPr/>
          <p:nvPr/>
        </p:nvSpPr>
        <p:spPr>
          <a:xfrm>
            <a:off x="685800" y="1554480"/>
            <a:ext cx="457200" cy="457200"/>
          </a:xfrm>
          <a:prstGeom prst="ellipse">
            <a:avLst/>
          </a:prstGeom>
          <a:solidFill>
            <a:srgbClr val="2A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63677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9DB8FF"/>
                </a:solidFill>
                <a:latin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36192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6E1E8"/>
                </a:solidFill>
                <a:latin typeface="Segoe UI"/>
              </a:rPr>
              <a:t>Проектирование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536192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8E8B96"/>
                </a:solidFill>
                <a:latin typeface="Segoe UI"/>
              </a:rPr>
              <a:t>ADR, схема БД, API-контракты,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8E8B96"/>
                </a:solidFill>
                <a:latin typeface="Segoe UI"/>
              </a:rPr>
              <a:t>UX и UI-кит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404872"/>
            <a:ext cx="457200" cy="457200"/>
          </a:xfrm>
          <a:prstGeom prst="ellipse">
            <a:avLst/>
          </a:prstGeom>
          <a:solidFill>
            <a:srgbClr val="2A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248716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9DB8FF"/>
                </a:solidFill>
                <a:latin typeface="Segoe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386584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6E1E8"/>
                </a:solidFill>
                <a:latin typeface="Segoe UI"/>
              </a:rPr>
              <a:t>Бэкенд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386584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8E8B96"/>
                </a:solidFill>
                <a:latin typeface="Segoe UI"/>
              </a:rPr>
              <a:t>FastAPI + SQLAlchemy, Alembic,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8E8B96"/>
                </a:solidFill>
                <a:latin typeface="Segoe UI"/>
              </a:rPr>
              <a:t>Pydantic, 177 тестов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3255264"/>
            <a:ext cx="457200" cy="457200"/>
          </a:xfrm>
          <a:prstGeom prst="ellipse">
            <a:avLst/>
          </a:prstGeom>
          <a:solidFill>
            <a:srgbClr val="2A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33375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9DB8FF"/>
                </a:solidFill>
                <a:latin typeface="Segoe U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236976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6E1E8"/>
                </a:solidFill>
                <a:latin typeface="Segoe UI"/>
              </a:rPr>
              <a:t>Фронтенд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236976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8E8B96"/>
                </a:solidFill>
                <a:latin typeface="Segoe UI"/>
              </a:rPr>
              <a:t>Vue 3 + TypeScript, Vite,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8E8B96"/>
                </a:solidFill>
                <a:latin typeface="Segoe UI"/>
              </a:rPr>
              <a:t>тёмная Material-тема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4105656"/>
            <a:ext cx="457200" cy="457200"/>
          </a:xfrm>
          <a:prstGeom prst="ellipse">
            <a:avLst/>
          </a:prstGeom>
          <a:solidFill>
            <a:srgbClr val="2A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4187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9DB8FF"/>
                </a:solidFill>
                <a:latin typeface="Segoe U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087368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6E1E8"/>
                </a:solidFill>
                <a:latin typeface="Segoe UI"/>
              </a:rPr>
              <a:t>Данные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4087368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8E8B96"/>
                </a:solidFill>
                <a:latin typeface="Segoe UI"/>
              </a:rPr>
              <a:t>MOEX ISS, disclosure.ru,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8E8B96"/>
                </a:solidFill>
                <a:latin typeface="Segoe UI"/>
              </a:rPr>
              <a:t>нормализация и upsert</a:t>
            </a:r>
          </a:p>
        </p:txBody>
      </p:sp>
      <p:sp>
        <p:nvSpPr>
          <p:cNvPr id="20" name="Oval 19"/>
          <p:cNvSpPr/>
          <p:nvPr/>
        </p:nvSpPr>
        <p:spPr>
          <a:xfrm>
            <a:off x="685800" y="4956048"/>
            <a:ext cx="457200" cy="457200"/>
          </a:xfrm>
          <a:prstGeom prst="ellipse">
            <a:avLst/>
          </a:prstGeom>
          <a:solidFill>
            <a:srgbClr val="2A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503834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9DB8FF"/>
                </a:solidFill>
                <a:latin typeface="Segoe U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937760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6E1E8"/>
                </a:solidFill>
                <a:latin typeface="Segoe UI"/>
              </a:rPr>
              <a:t>Полировка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493776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8E8B96"/>
                </a:solidFill>
                <a:latin typeface="Segoe UI"/>
              </a:rPr>
              <a:t>Fallback «отсечка → собрание»,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8E8B96"/>
                </a:solidFill>
                <a:latin typeface="Segoe UI"/>
              </a:rPr>
              <a:t>цвета сроков, синхронизация доков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03720" y="1508760"/>
            <a:ext cx="4663440" cy="4434840"/>
          </a:xfrm>
          <a:prstGeom prst="roundRect">
            <a:avLst>
              <a:gd name="adj" fmla="val 5000"/>
            </a:avLst>
          </a:prstGeom>
          <a:solidFill>
            <a:srgbClr val="1D1D20"/>
          </a:solidFill>
          <a:ln w="12700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78040" y="169164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9DB8FF"/>
                </a:solidFill>
                <a:latin typeface="Segoe UI"/>
              </a:rPr>
              <a:t>СУБАГЕНТЫ CLAUDE CODE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205740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E6E1E8"/>
                </a:solidFill>
                <a:latin typeface="Consolas"/>
              </a:rPr>
              <a:t>system-designer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2048256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8E8B96"/>
                </a:solidFill>
                <a:latin typeface="Segoe UI"/>
              </a:rPr>
              <a:t>архитектура, ревью спецификаций,</a:t>
            </a:r>
          </a:p>
          <a:p>
            <a:pPr algn="l">
              <a:lnSpc>
                <a:spcPct val="115000"/>
              </a:lnSpc>
            </a:pPr>
            <a:r>
              <a:rPr sz="950" b="0">
                <a:solidFill>
                  <a:srgbClr val="8E8B96"/>
                </a:solidFill>
                <a:latin typeface="Segoe UI"/>
              </a:rPr>
              <a:t>разрешение противоречий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269748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E6E1E8"/>
                </a:solidFill>
                <a:latin typeface="Consolas"/>
              </a:rPr>
              <a:t>backend-designer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40" y="2688336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8E8B96"/>
                </a:solidFill>
                <a:latin typeface="Segoe UI"/>
              </a:rPr>
              <a:t>схема БД, API, модули сбора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333756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E6E1E8"/>
                </a:solidFill>
                <a:latin typeface="Consolas"/>
              </a:rPr>
              <a:t>frontend-designer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6840" y="3328416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8E8B96"/>
                </a:solidFill>
                <a:latin typeface="Segoe UI"/>
              </a:rPr>
              <a:t>компоненты, состояние, роутинг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8040" y="397764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E6E1E8"/>
                </a:solidFill>
                <a:latin typeface="Consolas"/>
              </a:rPr>
              <a:t>ui-designer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6840" y="3968496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8E8B96"/>
                </a:solidFill>
                <a:latin typeface="Segoe UI"/>
              </a:rPr>
              <a:t>макеты, UI-кит, UX-сценарии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78040" y="461772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E6E1E8"/>
                </a:solidFill>
                <a:latin typeface="Consolas"/>
              </a:rPr>
              <a:t>backend-developer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06840" y="4608576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8E8B96"/>
                </a:solidFill>
                <a:latin typeface="Segoe UI"/>
              </a:rPr>
              <a:t>реализация только по спецификациям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8040" y="525780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E6E1E8"/>
                </a:solidFill>
                <a:latin typeface="Consolas"/>
              </a:rPr>
              <a:t>front-developer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06840" y="5248656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8E8B96"/>
                </a:solidFill>
                <a:latin typeface="Segoe UI"/>
              </a:rPr>
              <a:t>реализация только по спецификациям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598932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E8B96"/>
                </a:solidFill>
                <a:latin typeface="Segoe UI"/>
              </a:rPr>
              <a:t>Зачем: дизайнеры отвечают за решения, system-designer арбитрирует, разработчики пишут код строго по согласованным контрактам.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44652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E8B96"/>
                </a:solidFill>
                <a:latin typeface="Segoe UI"/>
              </a:rPr>
              <a:t>Дивидендный календарь · MVP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E8B96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6E1E8"/>
                </a:solidFill>
                <a:latin typeface="Segoe UI"/>
              </a:rPr>
              <a:t>Структура проекта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E8B96"/>
                </a:solidFill>
                <a:latin typeface="Segoe UI"/>
              </a:rPr>
              <a:t>Спецификации, код и данные разделены по областям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3520440" cy="3611880"/>
          </a:xfrm>
          <a:prstGeom prst="roundRect">
            <a:avLst>
              <a:gd name="adj" fmla="val 5000"/>
            </a:avLst>
          </a:prstGeom>
          <a:solidFill>
            <a:srgbClr val="1D1D20"/>
          </a:solidFill>
          <a:ln w="12700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69164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6E1E8"/>
                </a:solidFill>
                <a:latin typeface="Consolas"/>
              </a:rPr>
              <a:t>design/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29968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9DB8FF"/>
                </a:solidFill>
                <a:latin typeface="Segoe UI"/>
              </a:rPr>
              <a:t>СПЕЦИФИКАЦИИ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315468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C9C5CF"/>
                </a:solidFill>
                <a:latin typeface="Consolas"/>
              </a:rPr>
              <a:t>system/ — архитектура, ADR,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C9C5CF"/>
                </a:solidFill>
                <a:latin typeface="Consolas"/>
              </a:rPr>
              <a:t>  каноническая модель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C9C5CF"/>
                </a:solidFill>
                <a:latin typeface="Consolas"/>
              </a:rPr>
              <a:t>backend/ — схема БД, API,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C9C5CF"/>
                </a:solidFill>
                <a:latin typeface="Consolas"/>
              </a:rPr>
              <a:t>  модули и скрипты сбора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C9C5CF"/>
                </a:solidFill>
                <a:latin typeface="Consolas"/>
              </a:rPr>
              <a:t>frontend/ — компоненты,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C9C5CF"/>
                </a:solidFill>
                <a:latin typeface="Consolas"/>
              </a:rPr>
              <a:t>  состояние, роутинг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C9C5CF"/>
                </a:solidFill>
                <a:latin typeface="Consolas"/>
              </a:rPr>
              <a:t>ui/ — макеты, UI-кит, UX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08760"/>
            <a:ext cx="3520440" cy="3611880"/>
          </a:xfrm>
          <a:prstGeom prst="roundRect">
            <a:avLst>
              <a:gd name="adj" fmla="val 5000"/>
            </a:avLst>
          </a:prstGeom>
          <a:solidFill>
            <a:srgbClr val="1D1D20"/>
          </a:solidFill>
          <a:ln w="12700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3440" y="169164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6E1E8"/>
                </a:solidFill>
                <a:latin typeface="Consolas"/>
              </a:rPr>
              <a:t>backend/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029968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9DB8FF"/>
                </a:solidFill>
                <a:latin typeface="Segoe UI"/>
              </a:rPr>
              <a:t>PYTHON · FASTAPI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377440"/>
            <a:ext cx="315468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C9C5CF"/>
                </a:solidFill>
                <a:latin typeface="Consolas"/>
              </a:rPr>
              <a:t>app/api/ — роутеры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C9C5CF"/>
                </a:solidFill>
                <a:latin typeface="Consolas"/>
              </a:rPr>
              <a:t>app/services/ — бизнес-логика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C9C5CF"/>
                </a:solidFill>
                <a:latin typeface="Consolas"/>
              </a:rPr>
              <a:t>app/repositories/ — SQLAlchemy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C9C5CF"/>
                </a:solidFill>
                <a:latin typeface="Consolas"/>
              </a:rPr>
              <a:t>app/models/, app/schemas/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C9C5CF"/>
                </a:solidFill>
                <a:latin typeface="Consolas"/>
              </a:rPr>
              <a:t>scripts/ingestion/ — сбор данных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C9C5CF"/>
                </a:solidFill>
                <a:latin typeface="Consolas"/>
              </a:rPr>
              <a:t>migrations/ — Alembic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C9C5CF"/>
                </a:solidFill>
                <a:latin typeface="Consolas"/>
              </a:rPr>
              <a:t>assets/logos/, static/logos/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C9C5CF"/>
                </a:solidFill>
                <a:latin typeface="Consolas"/>
              </a:rPr>
              <a:t>tests/ — pytest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508760"/>
            <a:ext cx="3520440" cy="3611880"/>
          </a:xfrm>
          <a:prstGeom prst="roundRect">
            <a:avLst>
              <a:gd name="adj" fmla="val 5000"/>
            </a:avLst>
          </a:prstGeom>
          <a:solidFill>
            <a:srgbClr val="1D1D20"/>
          </a:solidFill>
          <a:ln w="12700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58200" y="169164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6E1E8"/>
                </a:solidFill>
                <a:latin typeface="Consolas"/>
              </a:rPr>
              <a:t>frontend/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029968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9DB8FF"/>
                </a:solidFill>
                <a:latin typeface="Segoe UI"/>
              </a:rPr>
              <a:t>VUE 3 · TYPESCRIPT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377440"/>
            <a:ext cx="315468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C9C5CF"/>
                </a:solidFill>
                <a:latin typeface="Consolas"/>
              </a:rPr>
              <a:t>src/api/ — клиент API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C9C5CF"/>
                </a:solidFill>
                <a:latin typeface="Consolas"/>
              </a:rPr>
              <a:t>src/components/ — UI-компоненты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C9C5CF"/>
                </a:solidFill>
                <a:latin typeface="Consolas"/>
              </a:rPr>
              <a:t>src/composables/ — состояние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C9C5CF"/>
                </a:solidFill>
                <a:latin typeface="Consolas"/>
              </a:rPr>
              <a:t>src/pages/ — Календарь, Сторожки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C9C5CF"/>
                </a:solidFill>
                <a:latin typeface="Consolas"/>
              </a:rPr>
              <a:t>src/router/ — маршруты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C9C5CF"/>
                </a:solidFill>
                <a:latin typeface="Consolas"/>
              </a:rPr>
              <a:t>src/styles/ — токены темы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C9C5CF"/>
                </a:solidFill>
                <a:latin typeface="Consolas"/>
              </a:rPr>
              <a:t>src/types/, src/utils/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C9C5CF"/>
                </a:solidFill>
                <a:latin typeface="Consolas"/>
              </a:rPr>
              <a:t>src/**/*.spec.ts — vitest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30352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8E8B96"/>
                </a:solidFill>
                <a:latin typeface="Segoe UI"/>
              </a:rPr>
              <a:t>СТЕК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596128"/>
            <a:ext cx="1110996" cy="329184"/>
          </a:xfrm>
          <a:prstGeom prst="roundRect">
            <a:avLst>
              <a:gd name="adj" fmla="val 50000"/>
            </a:avLst>
          </a:prstGeom>
          <a:solidFill>
            <a:srgbClr val="2A3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5660136"/>
            <a:ext cx="111099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C6D4FF"/>
                </a:solidFill>
                <a:latin typeface="Segoe UI"/>
              </a:rPr>
              <a:t>Python 3.11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60804" y="5596128"/>
            <a:ext cx="800100" cy="329184"/>
          </a:xfrm>
          <a:prstGeom prst="roundRect">
            <a:avLst>
              <a:gd name="adj" fmla="val 50000"/>
            </a:avLst>
          </a:prstGeom>
          <a:solidFill>
            <a:srgbClr val="2A3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860804" y="5660136"/>
            <a:ext cx="800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C6D4FF"/>
                </a:solidFill>
                <a:latin typeface="Segoe UI"/>
              </a:rPr>
              <a:t>FastAPI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70632" y="559612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2A3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770632" y="5660136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C6D4FF"/>
                </a:solidFill>
                <a:latin typeface="Segoe UI"/>
              </a:rPr>
              <a:t>SQLAlchemy 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69080" y="5596128"/>
            <a:ext cx="800100" cy="329184"/>
          </a:xfrm>
          <a:prstGeom prst="roundRect">
            <a:avLst>
              <a:gd name="adj" fmla="val 50000"/>
            </a:avLst>
          </a:prstGeom>
          <a:solidFill>
            <a:srgbClr val="2A3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069080" y="5660136"/>
            <a:ext cx="800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C6D4FF"/>
                </a:solidFill>
                <a:latin typeface="Segoe UI"/>
              </a:rPr>
              <a:t>Alembic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78908" y="5596128"/>
            <a:ext cx="877824" cy="329184"/>
          </a:xfrm>
          <a:prstGeom prst="roundRect">
            <a:avLst>
              <a:gd name="adj" fmla="val 50000"/>
            </a:avLst>
          </a:prstGeom>
          <a:solidFill>
            <a:srgbClr val="2A3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978908" y="5660136"/>
            <a:ext cx="8778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C6D4FF"/>
                </a:solidFill>
                <a:latin typeface="Segoe UI"/>
              </a:rPr>
              <a:t>Pydantic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66460" y="5596128"/>
            <a:ext cx="758952" cy="329184"/>
          </a:xfrm>
          <a:prstGeom prst="roundRect">
            <a:avLst>
              <a:gd name="adj" fmla="val 50000"/>
            </a:avLst>
          </a:prstGeom>
          <a:solidFill>
            <a:srgbClr val="2A3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66460" y="5660136"/>
            <a:ext cx="7589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C6D4FF"/>
                </a:solidFill>
                <a:latin typeface="Segoe UI"/>
              </a:rPr>
              <a:t>SQLite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35140" y="5596128"/>
            <a:ext cx="758952" cy="329184"/>
          </a:xfrm>
          <a:prstGeom prst="roundRect">
            <a:avLst>
              <a:gd name="adj" fmla="val 50000"/>
            </a:avLst>
          </a:prstGeom>
          <a:solidFill>
            <a:srgbClr val="2A3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35140" y="5660136"/>
            <a:ext cx="7589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C6D4FF"/>
                </a:solidFill>
                <a:latin typeface="Segoe UI"/>
              </a:rPr>
              <a:t>Vue 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03820" y="5596128"/>
            <a:ext cx="1033272" cy="329184"/>
          </a:xfrm>
          <a:prstGeom prst="roundRect">
            <a:avLst>
              <a:gd name="adj" fmla="val 50000"/>
            </a:avLst>
          </a:prstGeom>
          <a:solidFill>
            <a:srgbClr val="2A3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03820" y="5660136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C6D4FF"/>
                </a:solidFill>
                <a:latin typeface="Segoe UI"/>
              </a:rPr>
              <a:t>TypeScript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846820" y="5596128"/>
            <a:ext cx="758952" cy="329184"/>
          </a:xfrm>
          <a:prstGeom prst="roundRect">
            <a:avLst>
              <a:gd name="adj" fmla="val 50000"/>
            </a:avLst>
          </a:prstGeom>
          <a:solidFill>
            <a:srgbClr val="2A3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846820" y="5660136"/>
            <a:ext cx="7589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C6D4FF"/>
                </a:solidFill>
                <a:latin typeface="Segoe UI"/>
              </a:rPr>
              <a:t>Vite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715500" y="5596128"/>
            <a:ext cx="758952" cy="329184"/>
          </a:xfrm>
          <a:prstGeom prst="roundRect">
            <a:avLst>
              <a:gd name="adj" fmla="val 50000"/>
            </a:avLst>
          </a:prstGeom>
          <a:solidFill>
            <a:srgbClr val="2A3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715500" y="5660136"/>
            <a:ext cx="7589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C6D4FF"/>
                </a:solidFill>
                <a:latin typeface="Segoe UI"/>
              </a:rPr>
              <a:t>Vitest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584180" y="5596128"/>
            <a:ext cx="758952" cy="329184"/>
          </a:xfrm>
          <a:prstGeom prst="roundRect">
            <a:avLst>
              <a:gd name="adj" fmla="val 50000"/>
            </a:avLst>
          </a:prstGeom>
          <a:solidFill>
            <a:srgbClr val="2A3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584180" y="5660136"/>
            <a:ext cx="7589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C6D4FF"/>
                </a:solidFill>
                <a:latin typeface="Segoe UI"/>
              </a:rPr>
              <a:t>uv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44652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E8B96"/>
                </a:solidFill>
                <a:latin typeface="Segoe UI"/>
              </a:rPr>
              <a:t>Дивидендный календарь · MVP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E8B96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6E1E8"/>
                </a:solidFill>
                <a:latin typeface="Segoe UI"/>
              </a:rPr>
              <a:t>Интерфейс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88136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dirty="0" err="1">
                <a:solidFill>
                  <a:srgbClr val="8E8B96"/>
                </a:solidFill>
                <a:latin typeface="Segoe UI"/>
              </a:rPr>
              <a:t>Календарь</a:t>
            </a:r>
            <a:r>
              <a:rPr sz="1300" b="0" dirty="0">
                <a:solidFill>
                  <a:srgbClr val="8E8B96"/>
                </a:solidFill>
                <a:latin typeface="Segoe UI"/>
              </a:rPr>
              <a:t> </a:t>
            </a:r>
            <a:r>
              <a:rPr sz="1300" b="0" dirty="0" err="1">
                <a:solidFill>
                  <a:srgbClr val="8E8B96"/>
                </a:solidFill>
                <a:latin typeface="Segoe UI"/>
              </a:rPr>
              <a:t>событий</a:t>
            </a:r>
            <a:r>
              <a:rPr sz="1300" b="0" dirty="0">
                <a:solidFill>
                  <a:srgbClr val="8E8B96"/>
                </a:solidFill>
                <a:latin typeface="Segoe UI"/>
              </a:rPr>
              <a:t> — </a:t>
            </a:r>
            <a:r>
              <a:rPr sz="1300" b="0" dirty="0" err="1">
                <a:solidFill>
                  <a:srgbClr val="8E8B96"/>
                </a:solidFill>
                <a:latin typeface="Segoe UI"/>
              </a:rPr>
              <a:t>тёмная</a:t>
            </a:r>
            <a:r>
              <a:rPr sz="1300" b="0" dirty="0">
                <a:solidFill>
                  <a:srgbClr val="8E8B96"/>
                </a:solidFill>
                <a:latin typeface="Segoe UI"/>
              </a:rPr>
              <a:t> Material-</a:t>
            </a:r>
            <a:r>
              <a:rPr sz="1300" b="0" dirty="0" err="1">
                <a:solidFill>
                  <a:srgbClr val="8E8B96"/>
                </a:solidFill>
                <a:latin typeface="Segoe UI"/>
              </a:rPr>
              <a:t>тема</a:t>
            </a:r>
            <a:endParaRPr sz="1300" b="0" dirty="0">
              <a:solidFill>
                <a:srgbClr val="8E8B96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6035040"/>
            <a:ext cx="6492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dirty="0" err="1">
                <a:solidFill>
                  <a:srgbClr val="8E8B96"/>
                </a:solidFill>
                <a:latin typeface="Segoe UI"/>
              </a:rPr>
              <a:t>Календарь</a:t>
            </a:r>
            <a:r>
              <a:rPr sz="1050" b="0" dirty="0">
                <a:solidFill>
                  <a:srgbClr val="8E8B96"/>
                </a:solidFill>
                <a:latin typeface="Segoe UI"/>
              </a:rPr>
              <a:t>: </a:t>
            </a:r>
            <a:r>
              <a:rPr sz="1050" b="0" dirty="0" err="1">
                <a:solidFill>
                  <a:srgbClr val="8E8B96"/>
                </a:solidFill>
                <a:latin typeface="Segoe UI"/>
              </a:rPr>
              <a:t>собрания</a:t>
            </a:r>
            <a:r>
              <a:rPr sz="1050" b="0" dirty="0">
                <a:solidFill>
                  <a:srgbClr val="8E8B96"/>
                </a:solidFill>
                <a:latin typeface="Segoe UI"/>
              </a:rPr>
              <a:t>, </a:t>
            </a:r>
            <a:r>
              <a:rPr sz="1050" b="0" dirty="0" err="1">
                <a:solidFill>
                  <a:srgbClr val="8E8B96"/>
                </a:solidFill>
                <a:latin typeface="Segoe UI"/>
              </a:rPr>
              <a:t>суммы</a:t>
            </a:r>
            <a:r>
              <a:rPr sz="1050" b="0" dirty="0">
                <a:solidFill>
                  <a:srgbClr val="8E8B96"/>
                </a:solidFill>
                <a:latin typeface="Segoe UI"/>
              </a:rPr>
              <a:t>, </a:t>
            </a:r>
            <a:r>
              <a:rPr sz="1050" b="0" dirty="0" err="1">
                <a:solidFill>
                  <a:srgbClr val="8E8B96"/>
                </a:solidFill>
                <a:latin typeface="Segoe UI"/>
              </a:rPr>
              <a:t>доходность</a:t>
            </a:r>
            <a:r>
              <a:rPr sz="1050" b="0" dirty="0">
                <a:solidFill>
                  <a:srgbClr val="8E8B96"/>
                </a:solidFill>
                <a:latin typeface="Segoe UI"/>
              </a:rPr>
              <a:t>, </a:t>
            </a:r>
            <a:r>
              <a:rPr sz="1050" b="0" dirty="0" err="1">
                <a:solidFill>
                  <a:srgbClr val="8E8B96"/>
                </a:solidFill>
                <a:latin typeface="Segoe UI"/>
              </a:rPr>
              <a:t>отсечка</a:t>
            </a:r>
            <a:r>
              <a:rPr sz="1050" b="0" dirty="0">
                <a:solidFill>
                  <a:srgbClr val="8E8B96"/>
                </a:solidFill>
                <a:latin typeface="Segoe UI"/>
              </a:rPr>
              <a:t>, </a:t>
            </a:r>
            <a:r>
              <a:rPr sz="1050" b="0" dirty="0" err="1">
                <a:solidFill>
                  <a:srgbClr val="8E8B96"/>
                </a:solidFill>
                <a:latin typeface="Segoe UI"/>
              </a:rPr>
              <a:t>статус</a:t>
            </a:r>
            <a:r>
              <a:rPr sz="1050" b="0" dirty="0">
                <a:solidFill>
                  <a:srgbClr val="8E8B96"/>
                </a:solidFill>
                <a:latin typeface="Segoe UI"/>
              </a:rPr>
              <a:t> </a:t>
            </a:r>
            <a:r>
              <a:rPr sz="1050" b="0" dirty="0" err="1">
                <a:solidFill>
                  <a:srgbClr val="8E8B96"/>
                </a:solidFill>
                <a:latin typeface="Segoe UI"/>
              </a:rPr>
              <a:t>срока</a:t>
            </a:r>
            <a:endParaRPr sz="1050" b="0" dirty="0">
              <a:solidFill>
                <a:srgbClr val="8E8B96"/>
              </a:solidFill>
              <a:latin typeface="Segoe U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59092" y="1484625"/>
            <a:ext cx="420624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dirty="0" err="1">
                <a:solidFill>
                  <a:srgbClr val="8E8B96"/>
                </a:solidFill>
                <a:latin typeface="Segoe UI"/>
              </a:rPr>
              <a:t>Сторожки</a:t>
            </a:r>
            <a:r>
              <a:rPr sz="1050" b="0" dirty="0">
                <a:solidFill>
                  <a:srgbClr val="8E8B96"/>
                </a:solidFill>
                <a:latin typeface="Segoe UI"/>
              </a:rPr>
              <a:t>: </a:t>
            </a:r>
            <a:r>
              <a:rPr sz="1050" b="0" dirty="0" err="1">
                <a:solidFill>
                  <a:srgbClr val="8E8B96"/>
                </a:solidFill>
                <a:latin typeface="Segoe UI"/>
              </a:rPr>
              <a:t>тикеры</a:t>
            </a:r>
            <a:r>
              <a:rPr sz="1050" b="0" dirty="0">
                <a:solidFill>
                  <a:srgbClr val="8E8B96"/>
                </a:solidFill>
                <a:latin typeface="Segoe UI"/>
              </a:rPr>
              <a:t>, </a:t>
            </a:r>
            <a:r>
              <a:rPr sz="1050" b="0" dirty="0" err="1">
                <a:solidFill>
                  <a:srgbClr val="8E8B96"/>
                </a:solidFill>
                <a:latin typeface="Segoe UI"/>
              </a:rPr>
              <a:t>дни</a:t>
            </a:r>
            <a:r>
              <a:rPr sz="1050" b="0" dirty="0">
                <a:solidFill>
                  <a:srgbClr val="8E8B96"/>
                </a:solidFill>
                <a:latin typeface="Segoe UI"/>
              </a:rPr>
              <a:t> </a:t>
            </a:r>
            <a:r>
              <a:rPr sz="1050" b="0" dirty="0" err="1">
                <a:solidFill>
                  <a:srgbClr val="8E8B96"/>
                </a:solidFill>
                <a:latin typeface="Segoe UI"/>
              </a:rPr>
              <a:t>до</a:t>
            </a:r>
            <a:r>
              <a:rPr sz="1050" b="0" dirty="0">
                <a:solidFill>
                  <a:srgbClr val="8E8B96"/>
                </a:solidFill>
                <a:latin typeface="Segoe UI"/>
              </a:rPr>
              <a:t> </a:t>
            </a:r>
            <a:r>
              <a:rPr sz="1050" b="0" dirty="0" err="1">
                <a:solidFill>
                  <a:srgbClr val="8E8B96"/>
                </a:solidFill>
                <a:latin typeface="Segoe UI"/>
              </a:rPr>
              <a:t>события</a:t>
            </a:r>
            <a:r>
              <a:rPr sz="1050" b="0" dirty="0">
                <a:solidFill>
                  <a:srgbClr val="8E8B96"/>
                </a:solidFill>
                <a:latin typeface="Segoe UI"/>
              </a:rPr>
              <a:t>, DSI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59092" y="1861292"/>
            <a:ext cx="420624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dirty="0">
                <a:solidFill>
                  <a:srgbClr val="8E8B96"/>
                </a:solidFill>
                <a:latin typeface="Segoe UI"/>
              </a:rPr>
              <a:t>ЦВЕТ ИНДИКАТОРА СРОКА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59092" y="2224654"/>
            <a:ext cx="1874519" cy="310896"/>
          </a:xfrm>
          <a:prstGeom prst="roundRect">
            <a:avLst>
              <a:gd name="adj" fmla="val 50000"/>
            </a:avLst>
          </a:prstGeom>
          <a:solidFill>
            <a:srgbClr val="232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287108" y="2334382"/>
            <a:ext cx="91440" cy="91440"/>
          </a:xfrm>
          <a:prstGeom prst="ellipse">
            <a:avLst/>
          </a:prstGeom>
          <a:solidFill>
            <a:srgbClr val="7FD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51700" y="2274946"/>
            <a:ext cx="1527048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6E1E8"/>
                </a:solidFill>
                <a:latin typeface="Segoe UI"/>
              </a:rPr>
              <a:t>более недели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59092" y="3011038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232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287108" y="3120766"/>
            <a:ext cx="91440" cy="91440"/>
          </a:xfrm>
          <a:prstGeom prst="ellipse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451700" y="3061330"/>
            <a:ext cx="1664208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6E1E8"/>
                </a:solidFill>
                <a:latin typeface="Segoe UI"/>
              </a:rPr>
              <a:t>1–7 дней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59092" y="2617846"/>
            <a:ext cx="1874519" cy="310896"/>
          </a:xfrm>
          <a:prstGeom prst="roundRect">
            <a:avLst>
              <a:gd name="adj" fmla="val 50000"/>
            </a:avLst>
          </a:prstGeom>
          <a:solidFill>
            <a:srgbClr val="232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287108" y="2727574"/>
            <a:ext cx="91440" cy="91440"/>
          </a:xfrm>
          <a:prstGeom prst="ellipse">
            <a:avLst/>
          </a:prstGeom>
          <a:solidFill>
            <a:srgbClr val="FF8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51700" y="2668138"/>
            <a:ext cx="1527048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6E1E8"/>
                </a:solidFill>
                <a:latin typeface="Segoe UI"/>
              </a:rPr>
              <a:t>сегодня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59092" y="340423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232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287108" y="3513958"/>
            <a:ext cx="91440" cy="91440"/>
          </a:xfrm>
          <a:prstGeom prst="ellipse">
            <a:avLst/>
          </a:prstGeom>
          <a:solidFill>
            <a:srgbClr val="8E8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51700" y="3454522"/>
            <a:ext cx="1847088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dirty="0" err="1">
                <a:solidFill>
                  <a:srgbClr val="E6E1E8"/>
                </a:solidFill>
                <a:latin typeface="Segoe UI"/>
              </a:rPr>
              <a:t>нет</a:t>
            </a:r>
            <a:r>
              <a:rPr sz="1100" b="0" dirty="0">
                <a:solidFill>
                  <a:srgbClr val="E6E1E8"/>
                </a:solidFill>
                <a:latin typeface="Segoe UI"/>
              </a:rPr>
              <a:t> </a:t>
            </a:r>
            <a:r>
              <a:rPr sz="1100" b="0" dirty="0" err="1">
                <a:solidFill>
                  <a:srgbClr val="E6E1E8"/>
                </a:solidFill>
                <a:latin typeface="Segoe UI"/>
              </a:rPr>
              <a:t>даты</a:t>
            </a:r>
            <a:r>
              <a:rPr sz="1100" b="0" dirty="0">
                <a:solidFill>
                  <a:srgbClr val="E6E1E8"/>
                </a:solidFill>
                <a:latin typeface="Segoe UI"/>
              </a:rPr>
              <a:t> / </a:t>
            </a:r>
            <a:r>
              <a:rPr sz="1100" b="0" dirty="0" err="1">
                <a:solidFill>
                  <a:srgbClr val="E6E1E8"/>
                </a:solidFill>
                <a:latin typeface="Segoe UI"/>
              </a:rPr>
              <a:t>прошла</a:t>
            </a:r>
            <a:endParaRPr sz="1100" b="0" dirty="0">
              <a:solidFill>
                <a:srgbClr val="E6E1E8"/>
              </a:solidFill>
              <a:latin typeface="Segoe U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0080" y="644652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E8B96"/>
                </a:solidFill>
                <a:latin typeface="Segoe UI"/>
              </a:rPr>
              <a:t>Дивидендный календарь · MVP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E8B96"/>
                </a:solidFill>
                <a:latin typeface="Segoe UI"/>
              </a:rPr>
              <a:t>5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5C98CC7-4AF2-9A97-49AE-295929E1A1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05567"/>
            <a:ext cx="8304785" cy="37145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E79C29-7F13-FE3C-D3F5-5AC5B5D6F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81BC07-8E0F-D00A-390E-899C94B13E59}"/>
              </a:ext>
            </a:extLst>
          </p:cNvPr>
          <p:cNvSpPr txBox="1"/>
          <p:nvPr/>
        </p:nvSpPr>
        <p:spPr>
          <a:xfrm>
            <a:off x="640080" y="50292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6E1E8"/>
                </a:solidFill>
                <a:latin typeface="Segoe UI"/>
              </a:rPr>
              <a:t>Интерфейс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07AB20-0E29-C526-ECF5-55AD27C1BC3C}"/>
              </a:ext>
            </a:extLst>
          </p:cNvPr>
          <p:cNvSpPr txBox="1"/>
          <p:nvPr/>
        </p:nvSpPr>
        <p:spPr>
          <a:xfrm>
            <a:off x="640080" y="1024128"/>
            <a:ext cx="1088136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dirty="0">
                <a:solidFill>
                  <a:srgbClr val="8E8B96"/>
                </a:solidFill>
                <a:latin typeface="Segoe UI"/>
              </a:rPr>
              <a:t>«</a:t>
            </a:r>
            <a:r>
              <a:rPr sz="1300" b="0" dirty="0" err="1">
                <a:solidFill>
                  <a:srgbClr val="8E8B96"/>
                </a:solidFill>
                <a:latin typeface="Segoe UI"/>
              </a:rPr>
              <a:t>Мои</a:t>
            </a:r>
            <a:r>
              <a:rPr sz="1300" b="0" dirty="0">
                <a:solidFill>
                  <a:srgbClr val="8E8B96"/>
                </a:solidFill>
                <a:latin typeface="Segoe UI"/>
              </a:rPr>
              <a:t> </a:t>
            </a:r>
            <a:r>
              <a:rPr sz="1300" b="0" dirty="0" err="1">
                <a:solidFill>
                  <a:srgbClr val="8E8B96"/>
                </a:solidFill>
                <a:latin typeface="Segoe UI"/>
              </a:rPr>
              <a:t>сторожки</a:t>
            </a:r>
            <a:r>
              <a:rPr sz="1300" b="0" dirty="0">
                <a:solidFill>
                  <a:srgbClr val="8E8B96"/>
                </a:solidFill>
                <a:latin typeface="Segoe UI"/>
              </a:rPr>
              <a:t>» — </a:t>
            </a:r>
            <a:r>
              <a:rPr sz="1300" b="0" dirty="0" err="1">
                <a:solidFill>
                  <a:srgbClr val="8E8B96"/>
                </a:solidFill>
                <a:latin typeface="Segoe UI"/>
              </a:rPr>
              <a:t>тёмная</a:t>
            </a:r>
            <a:r>
              <a:rPr sz="1300" b="0" dirty="0">
                <a:solidFill>
                  <a:srgbClr val="8E8B96"/>
                </a:solidFill>
                <a:latin typeface="Segoe UI"/>
              </a:rPr>
              <a:t> Material-</a:t>
            </a:r>
            <a:r>
              <a:rPr sz="1300" b="0" dirty="0" err="1">
                <a:solidFill>
                  <a:srgbClr val="8E8B96"/>
                </a:solidFill>
                <a:latin typeface="Segoe UI"/>
              </a:rPr>
              <a:t>тема</a:t>
            </a:r>
            <a:endParaRPr sz="1300" b="0" dirty="0">
              <a:solidFill>
                <a:srgbClr val="8E8B96"/>
              </a:solidFill>
              <a:latin typeface="Segoe UI"/>
            </a:endParaRPr>
          </a:p>
        </p:txBody>
      </p:sp>
      <p:pic>
        <p:nvPicPr>
          <p:cNvPr id="5" name="Picture 4" descr="2026-10-22_watchlist-screen_docs.png">
            <a:extLst>
              <a:ext uri="{FF2B5EF4-FFF2-40B4-BE49-F238E27FC236}">
                <a16:creationId xmlns:a16="http://schemas.microsoft.com/office/drawing/2014/main" id="{E4797F2A-8EED-9E30-9968-C6DEC3BE9F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13840"/>
            <a:ext cx="7651664" cy="53136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D24487-DC4B-F16E-FE96-AD595DF79072}"/>
              </a:ext>
            </a:extLst>
          </p:cNvPr>
          <p:cNvSpPr txBox="1"/>
          <p:nvPr/>
        </p:nvSpPr>
        <p:spPr>
          <a:xfrm>
            <a:off x="640080" y="6035040"/>
            <a:ext cx="6492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E8B96"/>
                </a:solidFill>
                <a:latin typeface="Segoe UI"/>
              </a:rPr>
              <a:t>Календарь: собрания, суммы, доходность, отсечка, статус срока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7D4B8E-634B-78BB-9AA9-A40462485BFE}"/>
              </a:ext>
            </a:extLst>
          </p:cNvPr>
          <p:cNvSpPr txBox="1"/>
          <p:nvPr/>
        </p:nvSpPr>
        <p:spPr>
          <a:xfrm>
            <a:off x="640080" y="644652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E8B96"/>
                </a:solidFill>
                <a:latin typeface="Segoe UI"/>
              </a:rPr>
              <a:t>Дивидендный календарь · MVP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B944BCA-1F72-AB5E-04C8-176CF0FE2C61}"/>
              </a:ext>
            </a:extLst>
          </p:cNvPr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E8B96"/>
                </a:solidFill>
                <a:latin typeface="Segoe UI"/>
              </a:rPr>
              <a:t>5</a:t>
            </a:r>
          </a:p>
        </p:txBody>
      </p:sp>
      <p:sp>
        <p:nvSpPr>
          <p:cNvPr id="24" name="Rounded Rectangle 8">
            <a:extLst>
              <a:ext uri="{FF2B5EF4-FFF2-40B4-BE49-F238E27FC236}">
                <a16:creationId xmlns:a16="http://schemas.microsoft.com/office/drawing/2014/main" id="{40F1EC3C-DAE9-1E62-8633-75AF3AB47410}"/>
              </a:ext>
            </a:extLst>
          </p:cNvPr>
          <p:cNvSpPr/>
          <p:nvPr/>
        </p:nvSpPr>
        <p:spPr>
          <a:xfrm>
            <a:off x="9159092" y="2224654"/>
            <a:ext cx="1874519" cy="310896"/>
          </a:xfrm>
          <a:prstGeom prst="roundRect">
            <a:avLst>
              <a:gd name="adj" fmla="val 50000"/>
            </a:avLst>
          </a:prstGeom>
          <a:solidFill>
            <a:srgbClr val="232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4B39870-77FF-442F-124C-74C65A4DFA1B}"/>
              </a:ext>
            </a:extLst>
          </p:cNvPr>
          <p:cNvSpPr/>
          <p:nvPr/>
        </p:nvSpPr>
        <p:spPr>
          <a:xfrm>
            <a:off x="9287108" y="2334382"/>
            <a:ext cx="91440" cy="91440"/>
          </a:xfrm>
          <a:prstGeom prst="ellipse">
            <a:avLst/>
          </a:prstGeom>
          <a:solidFill>
            <a:srgbClr val="7FD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256F88F-DB88-F257-A226-CACCD9626787}"/>
              </a:ext>
            </a:extLst>
          </p:cNvPr>
          <p:cNvSpPr txBox="1"/>
          <p:nvPr/>
        </p:nvSpPr>
        <p:spPr>
          <a:xfrm>
            <a:off x="9451700" y="2274946"/>
            <a:ext cx="1527048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6E1E8"/>
                </a:solidFill>
                <a:latin typeface="Segoe UI"/>
              </a:rPr>
              <a:t>более недели</a:t>
            </a:r>
          </a:p>
        </p:txBody>
      </p:sp>
      <p:sp>
        <p:nvSpPr>
          <p:cNvPr id="30" name="Rounded Rectangle 11">
            <a:extLst>
              <a:ext uri="{FF2B5EF4-FFF2-40B4-BE49-F238E27FC236}">
                <a16:creationId xmlns:a16="http://schemas.microsoft.com/office/drawing/2014/main" id="{802AB80B-ABCF-AE03-8861-D150A233F968}"/>
              </a:ext>
            </a:extLst>
          </p:cNvPr>
          <p:cNvSpPr/>
          <p:nvPr/>
        </p:nvSpPr>
        <p:spPr>
          <a:xfrm>
            <a:off x="9159092" y="3011038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232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64F546C2-5F4B-E5D0-E577-71514D2F0B17}"/>
              </a:ext>
            </a:extLst>
          </p:cNvPr>
          <p:cNvSpPr/>
          <p:nvPr/>
        </p:nvSpPr>
        <p:spPr>
          <a:xfrm>
            <a:off x="9287108" y="3120766"/>
            <a:ext cx="91440" cy="91440"/>
          </a:xfrm>
          <a:prstGeom prst="ellipse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6660DB5-882D-EDD0-79D4-9ADCC85A267F}"/>
              </a:ext>
            </a:extLst>
          </p:cNvPr>
          <p:cNvSpPr txBox="1"/>
          <p:nvPr/>
        </p:nvSpPr>
        <p:spPr>
          <a:xfrm>
            <a:off x="9451700" y="3061330"/>
            <a:ext cx="1664208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6E1E8"/>
                </a:solidFill>
                <a:latin typeface="Segoe UI"/>
              </a:rPr>
              <a:t>1–7 дней</a:t>
            </a:r>
          </a:p>
        </p:txBody>
      </p:sp>
      <p:sp>
        <p:nvSpPr>
          <p:cNvPr id="36" name="Rounded Rectangle 14">
            <a:extLst>
              <a:ext uri="{FF2B5EF4-FFF2-40B4-BE49-F238E27FC236}">
                <a16:creationId xmlns:a16="http://schemas.microsoft.com/office/drawing/2014/main" id="{E26A32E2-A0DC-D121-7C94-146AAFD5F1D1}"/>
              </a:ext>
            </a:extLst>
          </p:cNvPr>
          <p:cNvSpPr/>
          <p:nvPr/>
        </p:nvSpPr>
        <p:spPr>
          <a:xfrm>
            <a:off x="9159092" y="2617846"/>
            <a:ext cx="1874519" cy="310896"/>
          </a:xfrm>
          <a:prstGeom prst="roundRect">
            <a:avLst>
              <a:gd name="adj" fmla="val 50000"/>
            </a:avLst>
          </a:prstGeom>
          <a:solidFill>
            <a:srgbClr val="232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C80D807-B343-7970-245D-5F96AF065D1B}"/>
              </a:ext>
            </a:extLst>
          </p:cNvPr>
          <p:cNvSpPr/>
          <p:nvPr/>
        </p:nvSpPr>
        <p:spPr>
          <a:xfrm>
            <a:off x="9287108" y="2727574"/>
            <a:ext cx="91440" cy="91440"/>
          </a:xfrm>
          <a:prstGeom prst="ellipse">
            <a:avLst/>
          </a:prstGeom>
          <a:solidFill>
            <a:srgbClr val="FF8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36F7C6F-D890-5184-C8E8-A232083CB3DF}"/>
              </a:ext>
            </a:extLst>
          </p:cNvPr>
          <p:cNvSpPr txBox="1"/>
          <p:nvPr/>
        </p:nvSpPr>
        <p:spPr>
          <a:xfrm>
            <a:off x="9451700" y="2668138"/>
            <a:ext cx="1527048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6E1E8"/>
                </a:solidFill>
                <a:latin typeface="Segoe UI"/>
              </a:rPr>
              <a:t>сегодня</a:t>
            </a:r>
          </a:p>
        </p:txBody>
      </p:sp>
      <p:sp>
        <p:nvSpPr>
          <p:cNvPr id="42" name="Rounded Rectangle 17">
            <a:extLst>
              <a:ext uri="{FF2B5EF4-FFF2-40B4-BE49-F238E27FC236}">
                <a16:creationId xmlns:a16="http://schemas.microsoft.com/office/drawing/2014/main" id="{CF597ABF-F95B-C723-8B86-B37DF06ADF14}"/>
              </a:ext>
            </a:extLst>
          </p:cNvPr>
          <p:cNvSpPr/>
          <p:nvPr/>
        </p:nvSpPr>
        <p:spPr>
          <a:xfrm>
            <a:off x="9159092" y="340423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232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8211CFF-5FE2-336A-93B0-5D9409694576}"/>
              </a:ext>
            </a:extLst>
          </p:cNvPr>
          <p:cNvSpPr/>
          <p:nvPr/>
        </p:nvSpPr>
        <p:spPr>
          <a:xfrm>
            <a:off x="9287108" y="3513958"/>
            <a:ext cx="91440" cy="91440"/>
          </a:xfrm>
          <a:prstGeom prst="ellipse">
            <a:avLst/>
          </a:prstGeom>
          <a:solidFill>
            <a:srgbClr val="8E8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86BAB9E-47DE-E660-D27E-8062F6380D7F}"/>
              </a:ext>
            </a:extLst>
          </p:cNvPr>
          <p:cNvSpPr txBox="1"/>
          <p:nvPr/>
        </p:nvSpPr>
        <p:spPr>
          <a:xfrm>
            <a:off x="9451700" y="3454522"/>
            <a:ext cx="1847088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dirty="0" err="1">
                <a:solidFill>
                  <a:srgbClr val="E6E1E8"/>
                </a:solidFill>
                <a:latin typeface="Segoe UI"/>
              </a:rPr>
              <a:t>нет</a:t>
            </a:r>
            <a:r>
              <a:rPr sz="1100" b="0" dirty="0">
                <a:solidFill>
                  <a:srgbClr val="E6E1E8"/>
                </a:solidFill>
                <a:latin typeface="Segoe UI"/>
              </a:rPr>
              <a:t> </a:t>
            </a:r>
            <a:r>
              <a:rPr sz="1100" b="0" dirty="0" err="1">
                <a:solidFill>
                  <a:srgbClr val="E6E1E8"/>
                </a:solidFill>
                <a:latin typeface="Segoe UI"/>
              </a:rPr>
              <a:t>даты</a:t>
            </a:r>
            <a:r>
              <a:rPr sz="1100" b="0" dirty="0">
                <a:solidFill>
                  <a:srgbClr val="E6E1E8"/>
                </a:solidFill>
                <a:latin typeface="Segoe UI"/>
              </a:rPr>
              <a:t> / </a:t>
            </a:r>
            <a:r>
              <a:rPr sz="1100" b="0" dirty="0" err="1">
                <a:solidFill>
                  <a:srgbClr val="E6E1E8"/>
                </a:solidFill>
                <a:latin typeface="Segoe UI"/>
              </a:rPr>
              <a:t>прошла</a:t>
            </a:r>
            <a:endParaRPr sz="1100" b="0" dirty="0">
              <a:solidFill>
                <a:srgbClr val="E6E1E8"/>
              </a:solidFill>
              <a:latin typeface="Segoe UI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B70DD76-A1A2-9074-D36C-0FD059187F70}"/>
              </a:ext>
            </a:extLst>
          </p:cNvPr>
          <p:cNvSpPr txBox="1"/>
          <p:nvPr/>
        </p:nvSpPr>
        <p:spPr>
          <a:xfrm>
            <a:off x="9159092" y="1484625"/>
            <a:ext cx="420624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dirty="0" err="1">
                <a:solidFill>
                  <a:srgbClr val="8E8B96"/>
                </a:solidFill>
                <a:latin typeface="Segoe UI"/>
              </a:rPr>
              <a:t>Сторожки</a:t>
            </a:r>
            <a:r>
              <a:rPr sz="1050" b="0" dirty="0">
                <a:solidFill>
                  <a:srgbClr val="8E8B96"/>
                </a:solidFill>
                <a:latin typeface="Segoe UI"/>
              </a:rPr>
              <a:t>: </a:t>
            </a:r>
            <a:r>
              <a:rPr sz="1050" b="0" dirty="0" err="1">
                <a:solidFill>
                  <a:srgbClr val="8E8B96"/>
                </a:solidFill>
                <a:latin typeface="Segoe UI"/>
              </a:rPr>
              <a:t>тикеры</a:t>
            </a:r>
            <a:r>
              <a:rPr sz="1050" b="0" dirty="0">
                <a:solidFill>
                  <a:srgbClr val="8E8B96"/>
                </a:solidFill>
                <a:latin typeface="Segoe UI"/>
              </a:rPr>
              <a:t>, </a:t>
            </a:r>
            <a:r>
              <a:rPr sz="1050" b="0" dirty="0" err="1">
                <a:solidFill>
                  <a:srgbClr val="8E8B96"/>
                </a:solidFill>
                <a:latin typeface="Segoe UI"/>
              </a:rPr>
              <a:t>дни</a:t>
            </a:r>
            <a:r>
              <a:rPr sz="1050" b="0" dirty="0">
                <a:solidFill>
                  <a:srgbClr val="8E8B96"/>
                </a:solidFill>
                <a:latin typeface="Segoe UI"/>
              </a:rPr>
              <a:t> </a:t>
            </a:r>
            <a:r>
              <a:rPr sz="1050" b="0" dirty="0" err="1">
                <a:solidFill>
                  <a:srgbClr val="8E8B96"/>
                </a:solidFill>
                <a:latin typeface="Segoe UI"/>
              </a:rPr>
              <a:t>до</a:t>
            </a:r>
            <a:r>
              <a:rPr sz="1050" b="0" dirty="0">
                <a:solidFill>
                  <a:srgbClr val="8E8B96"/>
                </a:solidFill>
                <a:latin typeface="Segoe UI"/>
              </a:rPr>
              <a:t> </a:t>
            </a:r>
            <a:r>
              <a:rPr sz="1050" b="0" dirty="0" err="1">
                <a:solidFill>
                  <a:srgbClr val="8E8B96"/>
                </a:solidFill>
                <a:latin typeface="Segoe UI"/>
              </a:rPr>
              <a:t>события</a:t>
            </a:r>
            <a:r>
              <a:rPr sz="1050" b="0" dirty="0">
                <a:solidFill>
                  <a:srgbClr val="8E8B96"/>
                </a:solidFill>
                <a:latin typeface="Segoe UI"/>
              </a:rPr>
              <a:t>, DSI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C24D178-F4B9-4CF1-79A2-5B650F2557C4}"/>
              </a:ext>
            </a:extLst>
          </p:cNvPr>
          <p:cNvSpPr txBox="1"/>
          <p:nvPr/>
        </p:nvSpPr>
        <p:spPr>
          <a:xfrm>
            <a:off x="9159092" y="1861292"/>
            <a:ext cx="420624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dirty="0">
                <a:solidFill>
                  <a:srgbClr val="8E8B96"/>
                </a:solidFill>
                <a:latin typeface="Segoe UI"/>
              </a:rPr>
              <a:t>ЦВЕТ ИНДИКАТОРА СРОКА</a:t>
            </a:r>
          </a:p>
        </p:txBody>
      </p:sp>
    </p:spTree>
    <p:extLst>
      <p:ext uri="{BB962C8B-B14F-4D97-AF65-F5344CB8AC3E}">
        <p14:creationId xmlns:p14="http://schemas.microsoft.com/office/powerpoint/2010/main" val="323202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6E1E8"/>
                </a:solidFill>
                <a:latin typeface="Segoe UI"/>
              </a:rPr>
              <a:t>Дальнейшее развитие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E8B96"/>
                </a:solidFill>
                <a:latin typeface="Segoe UI"/>
              </a:rPr>
              <a:t>Что осталось за рамками MVP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3520440" cy="3566160"/>
          </a:xfrm>
          <a:prstGeom prst="roundRect">
            <a:avLst>
              <a:gd name="adj" fmla="val 5000"/>
            </a:avLst>
          </a:prstGeom>
          <a:solidFill>
            <a:srgbClr val="1D1D20"/>
          </a:solidFill>
          <a:ln w="12700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3520440" cy="82296"/>
          </a:xfrm>
          <a:prstGeom prst="roundRect">
            <a:avLst>
              <a:gd name="adj" fmla="val 0"/>
            </a:avLst>
          </a:prstGeom>
          <a:solidFill>
            <a:srgbClr val="9D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DB8FF"/>
                </a:solidFill>
                <a:latin typeface="Consola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E6E1E8"/>
                </a:solidFill>
                <a:latin typeface="Segoe UI"/>
              </a:rPr>
              <a:t>Закрыть технический долг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88920"/>
            <a:ext cx="310896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C9C5CF"/>
                </a:solidFill>
                <a:latin typeface="Segoe UI"/>
              </a:rPr>
              <a:t>Все пункты из таблицы README одним блоком: история дивидендов и DSI,</a:t>
            </a:r>
          </a:p>
          <a:p>
            <a:pPr algn="l">
              <a:lnSpc>
                <a:spcPct val="135000"/>
              </a:lnSpc>
            </a:pPr>
            <a:r>
              <a:rPr sz="1050" b="0">
                <a:solidFill>
                  <a:srgbClr val="C9C5CF"/>
                </a:solidFill>
                <a:latin typeface="Segoe UI"/>
              </a:rPr>
              <a:t>резервный источник данных, планировщик сбора, тесты пайплайна,</a:t>
            </a:r>
          </a:p>
          <a:p>
            <a:pPr algn="l">
              <a:lnSpc>
                <a:spcPct val="135000"/>
              </a:lnSpc>
            </a:pPr>
            <a:r>
              <a:rPr sz="1050" b="0">
                <a:solidFill>
                  <a:srgbClr val="C9C5CF"/>
                </a:solidFill>
                <a:latin typeface="Segoe UI"/>
              </a:rPr>
              <a:t>наполнение справочника логотипов, синхронизация документации.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508760"/>
            <a:ext cx="3520440" cy="3566160"/>
          </a:xfrm>
          <a:prstGeom prst="roundRect">
            <a:avLst>
              <a:gd name="adj" fmla="val 5000"/>
            </a:avLst>
          </a:prstGeom>
          <a:solidFill>
            <a:srgbClr val="1D1D20"/>
          </a:solidFill>
          <a:ln w="12700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434840" y="1508760"/>
            <a:ext cx="3520440" cy="82296"/>
          </a:xfrm>
          <a:prstGeom prst="roundRect">
            <a:avLst>
              <a:gd name="adj" fmla="val 0"/>
            </a:avLst>
          </a:prstGeom>
          <a:solidFill>
            <a:srgbClr val="7FD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173736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7FD9A6"/>
                </a:solidFill>
                <a:latin typeface="Consola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057400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E6E1E8"/>
                </a:solidFill>
                <a:latin typeface="Segoe UI"/>
              </a:rPr>
              <a:t>Многопользовательский режим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788920"/>
            <a:ext cx="310896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C9C5CF"/>
                </a:solidFill>
                <a:latin typeface="Segoe UI"/>
              </a:rPr>
              <a:t>Авторизация и аутентификация, изоляция сторожков по пользователю,</a:t>
            </a:r>
          </a:p>
          <a:p>
            <a:pPr algn="l">
              <a:lnSpc>
                <a:spcPct val="135000"/>
              </a:lnSpc>
            </a:pPr>
            <a:r>
              <a:rPr sz="1050" b="0">
                <a:solidFill>
                  <a:srgbClr val="C9C5CF"/>
                </a:solidFill>
                <a:latin typeface="Segoe UI"/>
              </a:rPr>
              <a:t>профили и персональные пороги срока, роли и права доступа.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508760"/>
            <a:ext cx="3520440" cy="3566160"/>
          </a:xfrm>
          <a:prstGeom prst="roundRect">
            <a:avLst>
              <a:gd name="adj" fmla="val 5000"/>
            </a:avLst>
          </a:prstGeom>
          <a:solidFill>
            <a:srgbClr val="1D1D20"/>
          </a:solidFill>
          <a:ln w="12700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229600" y="1508760"/>
            <a:ext cx="3520440" cy="82296"/>
          </a:xfrm>
          <a:prstGeom prst="roundRect">
            <a:avLst>
              <a:gd name="adj" fmla="val 0"/>
            </a:avLst>
          </a:prstGeom>
          <a:solidFill>
            <a:srgbClr val="FFD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58200" y="173736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D54F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057400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E6E1E8"/>
                </a:solidFill>
                <a:latin typeface="Segoe UI"/>
              </a:rPr>
              <a:t>Новости компаний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788920"/>
            <a:ext cx="310896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C9C5CF"/>
                </a:solidFill>
                <a:latin typeface="Segoe UI"/>
              </a:rPr>
              <a:t>Парсинг новостей эмитентов и ссылки на первоисточники</a:t>
            </a:r>
          </a:p>
          <a:p>
            <a:pPr algn="l">
              <a:lnSpc>
                <a:spcPct val="135000"/>
              </a:lnSpc>
            </a:pPr>
            <a:r>
              <a:rPr sz="1050" b="0">
                <a:solidFill>
                  <a:srgbClr val="C9C5CF"/>
                </a:solidFill>
                <a:latin typeface="Segoe UI"/>
              </a:rPr>
              <a:t>в карточках компаний, лента событий и контекст</a:t>
            </a:r>
          </a:p>
          <a:p>
            <a:pPr algn="l">
              <a:lnSpc>
                <a:spcPct val="135000"/>
              </a:lnSpc>
            </a:pPr>
            <a:r>
              <a:rPr sz="1050" b="0">
                <a:solidFill>
                  <a:srgbClr val="C9C5CF"/>
                </a:solidFill>
                <a:latin typeface="Segoe UI"/>
              </a:rPr>
              <a:t>к дивидендным решениям.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349240"/>
            <a:ext cx="10927080" cy="777240"/>
          </a:xfrm>
          <a:prstGeom prst="roundRect">
            <a:avLst>
              <a:gd name="adj" fmla="val 6000"/>
            </a:avLst>
          </a:prstGeom>
          <a:solidFill>
            <a:srgbClr val="232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55321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8E8B96"/>
                </a:solidFill>
                <a:latin typeface="Segoe UI"/>
              </a:rPr>
              <a:t>MVP закрыт: </a:t>
            </a:r>
            <a:r>
              <a:rPr sz="1250" b="1">
                <a:solidFill>
                  <a:srgbClr val="E6E1E8"/>
                </a:solidFill>
                <a:latin typeface="Segoe UI"/>
              </a:rPr>
              <a:t>календарь собраний, даты отсечки, сторожки, автообновление данных. </a:t>
            </a:r>
            <a:r>
              <a:rPr sz="1250" b="0">
                <a:solidFill>
                  <a:srgbClr val="9DB8FF"/>
                </a:solidFill>
                <a:latin typeface="Segoe UI"/>
              </a:rPr>
              <a:t>Следующий шаг — пользователи, уведомления и новостной контекст.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4652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E8B96"/>
                </a:solidFill>
                <a:latin typeface="Segoe UI"/>
              </a:rPr>
              <a:t>Дивидендный календарь · MVP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E8B96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919</Words>
  <Application>Microsoft Office PowerPoint</Application>
  <PresentationFormat>Widescreen</PresentationFormat>
  <Paragraphs>177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Сергей Тристан</cp:lastModifiedBy>
  <cp:revision>4</cp:revision>
  <dcterms:created xsi:type="dcterms:W3CDTF">2013-01-27T09:14:16Z</dcterms:created>
  <dcterms:modified xsi:type="dcterms:W3CDTF">2026-10-22T21:20:58Z</dcterms:modified>
  <cp:category/>
</cp:coreProperties>
</file>